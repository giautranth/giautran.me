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60F"/>
          </a:solidFill>
          <a:ln>
            <a:solidFill>
              <a:srgbClr val="2A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73152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371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A98224"/>
                </a:solidFill>
                <a:latin typeface="Lora"/>
              </a:defRPr>
            </a:pPr>
            <a:r>
              <a:t>TÀI LIỆU HƯỚNG DẪN VẬN HÀNH &amp; QUẢN TRỊ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Lora"/>
              </a:defRPr>
            </a:pPr>
            <a:r>
              <a:t>HƯỚNG DẪN QUẢN TRỊ</a:t>
            </a:r>
            <a:br/>
            <a:r>
              <a:t>WEBSITE VEGAN GARDEN BERLIN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0990" y="3931920"/>
            <a:ext cx="1828800" cy="36576"/>
          </a:xfrm>
          <a:prstGeom prst="rect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DFD7CE"/>
                </a:solidFill>
                <a:latin typeface="Lora"/>
              </a:defRPr>
            </a:pPr>
            <a:r>
              <a:t>Cẩm nang thao tác từ cơ bản đến nâng cao: Quản trị Banners, Thực đơn, Đánh giá,</a:t>
            </a:r>
            <a:br/>
            <a:r>
              <a:t>Thư viện ảnh, Thông tin nhà hàng và Hệ thống đặt bàn trực tuyến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C79A4A"/>
                </a:solidFill>
                <a:latin typeface="Lora"/>
              </a:defRPr>
            </a:pPr>
            <a:r>
              <a:t>Biên soạn: Giau Tran (giautran.me)  •  Hệ thống: WordPress 6.8+  •  Tháng 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solidFill>
              <a:srgbClr val="F6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98224"/>
                </a:solidFill>
                <a:latin typeface="Lora"/>
              </a:defRPr>
            </a:pPr>
            <a:r>
              <a:t>HỆ THỐNG CMS ĐỘNG • VEGAN GARDEN BERLIN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A160F"/>
                </a:solidFill>
                <a:latin typeface="Lora"/>
              </a:defRPr>
            </a:pPr>
            <a:r>
              <a:t>MỤC LỤC &amp; CẤU TRÚC HỆ THỐNG QUẢN TRỊ</a:t>
            </a:r>
          </a:p>
        </p:txBody>
      </p:sp>
      <p:pic>
        <p:nvPicPr>
          <p:cNvPr id="5" name="Picture 4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6576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25880"/>
            <a:ext cx="10728655" cy="22860"/>
          </a:xfrm>
          <a:prstGeom prst="rect">
            <a:avLst/>
          </a:prstGeom>
          <a:solidFill>
            <a:srgbClr val="C79A4A"/>
          </a:solidFill>
          <a:ln>
            <a:solidFill>
              <a:srgbClr val="C7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98224"/>
                </a:solidFill>
                <a:latin typeface="Lora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A160F"/>
                </a:solidFill>
                <a:latin typeface="Lora"/>
              </a:defRPr>
            </a:pPr>
            <a:r>
              <a:t>1. Đăng Nhập &amp; Bảng Điều Khiển</a:t>
            </a:r>
          </a:p>
          <a:p>
            <a:pPr>
              <a:defRPr sz="1100">
                <a:solidFill>
                  <a:srgbClr val="5A524A"/>
                </a:solidFill>
                <a:latin typeface="Lora"/>
              </a:defRPr>
            </a:pPr>
            <a:r>
              <a:t>Truy cập cổng quản trị wp-login.php, làm quen các menu chuyên biệt.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1688" y="16459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783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98224"/>
                </a:solidFill>
                <a:latin typeface="Lora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24028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A160F"/>
                </a:solidFill>
                <a:latin typeface="Lora"/>
              </a:defRPr>
            </a:pPr>
            <a:r>
              <a:t>2. Quản Trị Slider Banners</a:t>
            </a:r>
          </a:p>
          <a:p>
            <a:pPr>
              <a:defRPr sz="1100">
                <a:solidFill>
                  <a:srgbClr val="5A524A"/>
                </a:solidFill>
                <a:latin typeface="Lora"/>
              </a:defRPr>
            </a:pPr>
            <a:r>
              <a:t>Thêm/sửa banner, chọn ảnh Desktop (1920x600) &amp; Mobile (1200x800) riêng.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1856" y="16459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74736" y="1783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98224"/>
                </a:solidFill>
                <a:latin typeface="Lora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224028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A160F"/>
                </a:solidFill>
                <a:latin typeface="Lora"/>
              </a:defRPr>
            </a:pPr>
            <a:r>
              <a:t>3. Thực Đơn Món Ăn (Speisekarte)</a:t>
            </a:r>
          </a:p>
          <a:p>
            <a:pPr>
              <a:defRPr sz="1100">
                <a:solidFill>
                  <a:srgbClr val="5A524A"/>
                </a:solidFill>
                <a:latin typeface="Lora"/>
              </a:defRPr>
            </a:pPr>
            <a:r>
              <a:t>Cập nhật món ăn, hình ảnh, đơn giá € và bật/tắt trạng thái hiển thị.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98224"/>
                </a:solidFill>
                <a:latin typeface="Lora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2628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A160F"/>
                </a:solidFill>
                <a:latin typeface="Lora"/>
              </a:defRPr>
            </a:pPr>
            <a:r>
              <a:t>4. Đánh Giá Khách Hàng &amp; Thư Viện Ảnh</a:t>
            </a:r>
          </a:p>
          <a:p>
            <a:pPr>
              <a:defRPr sz="1100">
                <a:solidFill>
                  <a:srgbClr val="5A524A"/>
                </a:solidFill>
                <a:latin typeface="Lora"/>
              </a:defRPr>
            </a:pPr>
            <a:r>
              <a:t>Quản lý Google Reviews 5 sao và album hình ảnh không gian nhà hàng.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39319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4069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98224"/>
                </a:solidFill>
                <a:latin typeface="Lora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52628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A160F"/>
                </a:solidFill>
                <a:latin typeface="Lora"/>
              </a:defRPr>
            </a:pPr>
            <a:r>
              <a:t>5. Cài Đặt Thông Tin &amp; Video Trang Chủ</a:t>
            </a:r>
          </a:p>
          <a:p>
            <a:pPr>
              <a:defRPr sz="1100">
                <a:solidFill>
                  <a:srgbClr val="5A524A"/>
                </a:solidFill>
                <a:latin typeface="Lora"/>
              </a:defRPr>
            </a:pPr>
            <a:r>
              <a:t>Cập nhật hotline, email, giờ mở cửa, menu PDF và video YouTube.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91856" y="3931920"/>
            <a:ext cx="342900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406908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A98224"/>
                </a:solidFill>
                <a:latin typeface="Lora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74736" y="4526280"/>
            <a:ext cx="3063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A160F"/>
                </a:solidFill>
                <a:latin typeface="Lora"/>
              </a:defRPr>
            </a:pPr>
            <a:r>
              <a:t>6. Quản Lý Đặt Bàn &amp; Bài Viết Blog</a:t>
            </a:r>
          </a:p>
          <a:p>
            <a:pPr>
              <a:defRPr sz="1100">
                <a:solidFill>
                  <a:srgbClr val="5A524A"/>
                </a:solidFill>
                <a:latin typeface="Lora"/>
              </a:defRPr>
            </a:pPr>
            <a:r>
              <a:t>Xử lý đơn đặt bàn từ khách và đăng bài viết cẩm nang ẩm thực thuần chay.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solidFill>
              <a:srgbClr val="F6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98224"/>
                </a:solidFill>
                <a:latin typeface="Lora"/>
              </a:defRPr>
            </a:pPr>
            <a:r>
              <a:t>HỆ THỐNG CMS ĐỘNG • VEGAN GARDEN BERLIN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A160F"/>
                </a:solidFill>
                <a:latin typeface="Lora"/>
              </a:defRPr>
            </a:pPr>
            <a:r>
              <a:t>BƯỚC 1: ĐĂNG NHẬP HỆ THỐNG QUẢN TRỊ WP-ADMIN</a:t>
            </a:r>
          </a:p>
        </p:txBody>
      </p:sp>
      <p:pic>
        <p:nvPicPr>
          <p:cNvPr id="5" name="Picture 4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6576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25880"/>
            <a:ext cx="10728655" cy="22860"/>
          </a:xfrm>
          <a:prstGeom prst="rect">
            <a:avLst/>
          </a:prstGeom>
          <a:solidFill>
            <a:srgbClr val="C79A4A"/>
          </a:solidFill>
          <a:ln>
            <a:solidFill>
              <a:srgbClr val="C7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Truy cập cổng đăng nhập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Mở trình duyệt và truy cập: https://vegan-garden.berlin/wp-login.php</a:t>
            </a:r>
            <a:br/>
            <a:r>
              <a:t>Giao diện đăng nhập đã được thiết kế đồng bộ theo nhận diện thương hiệu quán.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1012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Nhập thông tin tài khoản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Tên đăng nhập (Username): giautran hoặc địa chỉ email quản trị.</a:t>
            </a:r>
            <a:br/>
            <a:r>
              <a:t>Nhập Mật khẩu (Password) bảo mật đã được cung cấp và bấm 'Anmelden'.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6460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Lưu ý bảo mật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Luôn đổi mật khẩu định kỳ trong mục 'Users -&gt; Profile'.</a:t>
            </a:r>
            <a:br/>
            <a:r>
              <a:t>Tuyệt đối không chia sẻ tài khoản cho người ngoài để bảo vệ dữ liệu khách đặt bàn.</a:t>
            </a:r>
          </a:p>
        </p:txBody>
      </p:sp>
      <p:pic>
        <p:nvPicPr>
          <p:cNvPr id="16" name="Picture 15" descr="live_vg_login_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solidFill>
              <a:srgbClr val="F6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98224"/>
                </a:solidFill>
                <a:latin typeface="Lora"/>
              </a:defRPr>
            </a:pPr>
            <a:r>
              <a:t>HỆ THỐNG CMS ĐỘNG • VEGAN GARDEN BERLIN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A160F"/>
                </a:solidFill>
                <a:latin typeface="Lora"/>
              </a:defRPr>
            </a:pPr>
            <a:r>
              <a:t>BƯỚC 2: LÀM QUEN THANH MENU QUẢN TRỊ CHUYÊN BIỆT</a:t>
            </a:r>
          </a:p>
        </p:txBody>
      </p:sp>
      <p:pic>
        <p:nvPicPr>
          <p:cNvPr id="5" name="Picture 4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6576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25880"/>
            <a:ext cx="10728655" cy="22860"/>
          </a:xfrm>
          <a:prstGeom prst="rect">
            <a:avLst/>
          </a:prstGeom>
          <a:solidFill>
            <a:srgbClr val="C79A4A"/>
          </a:solidFill>
          <a:ln>
            <a:solidFill>
              <a:srgbClr val="C7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62179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CÁC MỤC QUẢN TRỊ TRÊN THANH MENU ĐEN BÊN TRÁI</a:t>
            </a:r>
          </a:p>
          <a:p>
            <a:pPr>
              <a:spcAft>
                <a:spcPts val="600"/>
              </a:spcAft>
              <a:defRPr sz="1200">
                <a:solidFill>
                  <a:srgbClr val="5A524A"/>
                </a:solidFill>
                <a:latin typeface="Lora"/>
              </a:defRPr>
            </a:pPr>
            <a:r>
              <a:t>• 🖼️ Banners: Slider ảnh đầu trang chủ (hỗ trợ ảnh Desktop &amp; Mobile riêng).</a:t>
            </a:r>
          </a:p>
          <a:p>
            <a:pPr>
              <a:spcAft>
                <a:spcPts val="600"/>
              </a:spcAft>
              <a:defRPr sz="1200">
                <a:solidFill>
                  <a:srgbClr val="5A524A"/>
                </a:solidFill>
                <a:latin typeface="Lora"/>
              </a:defRPr>
            </a:pPr>
            <a:r>
              <a:t>• 🍲 Speisekarte: Thực đơn món ăn tiêu biểu (giá tiền, ảnh món, thứ tự).</a:t>
            </a:r>
          </a:p>
          <a:p>
            <a:pPr>
              <a:spcAft>
                <a:spcPts val="600"/>
              </a:spcAft>
              <a:defRPr sz="1200">
                <a:solidFill>
                  <a:srgbClr val="5A524A"/>
                </a:solidFill>
                <a:latin typeface="Lora"/>
              </a:defRPr>
            </a:pPr>
            <a:r>
              <a:t>• ⭐ Reviews: Google Đánh giá của khách hàng (số sao, màu avatar).</a:t>
            </a:r>
          </a:p>
          <a:p>
            <a:pPr>
              <a:spcAft>
                <a:spcPts val="600"/>
              </a:spcAft>
              <a:defRPr sz="1200">
                <a:solidFill>
                  <a:srgbClr val="5A524A"/>
                </a:solidFill>
                <a:latin typeface="Lora"/>
              </a:defRPr>
            </a:pPr>
            <a:r>
              <a:t>• 📸 Gallery: Thư viện hình ảnh không gian quán &amp; góc vườn.</a:t>
            </a:r>
          </a:p>
          <a:p>
            <a:pPr>
              <a:spcAft>
                <a:spcPts val="600"/>
              </a:spcAft>
              <a:defRPr sz="1200">
                <a:solidFill>
                  <a:srgbClr val="5A524A"/>
                </a:solidFill>
                <a:latin typeface="Lora"/>
              </a:defRPr>
            </a:pPr>
            <a:r>
              <a:t>• ⚙️ Restaurant Info: Cài đặt toàn diện hotline, giờ mở cửa, email, file PDF menu, video.</a:t>
            </a:r>
          </a:p>
          <a:p>
            <a:pPr>
              <a:spcAft>
                <a:spcPts val="600"/>
              </a:spcAft>
              <a:defRPr sz="1200">
                <a:solidFill>
                  <a:srgbClr val="5A524A"/>
                </a:solidFill>
                <a:latin typeface="Lora"/>
              </a:defRPr>
            </a:pPr>
            <a:r>
              <a:t>• 📅 Reservierungen: Quản lý danh sách khách đặt bàn trực tuyến qua website.</a:t>
            </a:r>
          </a:p>
          <a:p>
            <a:pPr>
              <a:spcAft>
                <a:spcPts val="600"/>
              </a:spcAft>
              <a:defRPr sz="1200">
                <a:solidFill>
                  <a:srgbClr val="5A524A"/>
                </a:solidFill>
                <a:latin typeface="Lora"/>
              </a:defRPr>
            </a:pPr>
            <a:r>
              <a:t>• ✍️ Posts: Viết bài cẩm nang ẩm thực chay tại chuyên mục Journal.</a:t>
            </a:r>
          </a:p>
        </p:txBody>
      </p:sp>
      <p:pic>
        <p:nvPicPr>
          <p:cNvPr id="9" name="Picture 8" descr="verified_themes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645920"/>
            <a:ext cx="4297680" cy="2686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solidFill>
              <a:srgbClr val="F6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98224"/>
                </a:solidFill>
                <a:latin typeface="Lora"/>
              </a:defRPr>
            </a:pPr>
            <a:r>
              <a:t>HỆ THỐNG CMS ĐỘNG • VEGAN GARDEN BERLIN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A160F"/>
                </a:solidFill>
                <a:latin typeface="Lora"/>
              </a:defRPr>
            </a:pPr>
            <a:r>
              <a:t>BƯỚC 3: QUẢN TRỊ SLIDER BANNER ĐẦU TRANG (DESKTOP &amp; MOBILE)</a:t>
            </a:r>
          </a:p>
        </p:txBody>
      </p:sp>
      <p:pic>
        <p:nvPicPr>
          <p:cNvPr id="5" name="Picture 4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6576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25880"/>
            <a:ext cx="10728655" cy="22860"/>
          </a:xfrm>
          <a:prstGeom prst="rect">
            <a:avLst/>
          </a:prstGeom>
          <a:solidFill>
            <a:srgbClr val="C79A4A"/>
          </a:solidFill>
          <a:ln>
            <a:solidFill>
              <a:srgbClr val="C7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Vào mục Quản lý Banners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Menu trái -&gt; '🖼️ Banners' -&gt; Bấm 'Add New Banner' để tạo mới, hoặc nhấp vào banner có sẵn để chỉnh sửa.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1012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Tải ảnh Desktop &amp; Mobile riêng biệt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Ô 1: Ảnh Desktop (Chuẩn 1920 × 600 px) -&gt; Bấm 'Đổi ảnh' / 'Chọn ảnh'.</a:t>
            </a:r>
            <a:br/>
            <a:r>
              <a:t>• Ô 2: Ảnh Mobile (Chuẩn 1200 × 800 px) -&gt; Bấm 'Đổi ảnh' để hiển thị tối ưu trên điện thoại.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6460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Cài đặt link &amp; Thứ tự hiển thị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Nhập Link khi bấm vào (ví dụ: #speisekarte).</a:t>
            </a:r>
            <a:br/>
            <a:r>
              <a:t>• Điền số thứ tự (Order: số nhỏ hơn hiển thị trước, 0 là đầu tiên).</a:t>
            </a:r>
            <a:br/>
            <a:r>
              <a:t>• Bật công tắc 'Đang bật hiển thị trên website' -&gt; Bấm Cập nhật.</a:t>
            </a:r>
          </a:p>
        </p:txBody>
      </p:sp>
      <p:pic>
        <p:nvPicPr>
          <p:cNvPr id="16" name="Picture 15" descr="verified_banner_cms_simplifi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3612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solidFill>
              <a:srgbClr val="F6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98224"/>
                </a:solidFill>
                <a:latin typeface="Lora"/>
              </a:defRPr>
            </a:pPr>
            <a:r>
              <a:t>HỆ THỐNG CMS ĐỘNG • VEGAN GARDEN BERLIN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A160F"/>
                </a:solidFill>
                <a:latin typeface="Lora"/>
              </a:defRPr>
            </a:pPr>
            <a:r>
              <a:t>BƯỚC 4: QUẢN TRỊ THỰC ĐƠN MÓN ĂN (SPEISEKARTE)</a:t>
            </a:r>
          </a:p>
        </p:txBody>
      </p:sp>
      <p:pic>
        <p:nvPicPr>
          <p:cNvPr id="5" name="Picture 4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6576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25880"/>
            <a:ext cx="10728655" cy="22860"/>
          </a:xfrm>
          <a:prstGeom prst="rect">
            <a:avLst/>
          </a:prstGeom>
          <a:solidFill>
            <a:srgbClr val="C79A4A"/>
          </a:solidFill>
          <a:ln>
            <a:solidFill>
              <a:srgbClr val="C7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Thêm món ăn mới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Vào menu '🍲 Speisekarte' -&gt; Bấm 'Add New Dish'.</a:t>
            </a:r>
            <a:br/>
            <a:r>
              <a:t>Nhập Tên món ăn vào ô Title (ví dụ: Gỏi Cuốn Chay, Lẩu Nấm Chay, Phở Chay...).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1012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Nhập Đơn giá &amp; Thứ tự hiển thị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Điền giá tiền vào ô 'Price' (ví dụ: 6,50 € hoặc 18,90 €).</a:t>
            </a:r>
            <a:br/>
            <a:r>
              <a:t>• Điền thứ tự 'Order' để sắp xếp món nổi bật lên đầu.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6460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Gắn ảnh món ăn &amp; Tạm ẩn món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Cột bên phải mục 'Featured Image (Ảnh đại diện)': Tải ảnh món ăn vuông sắc nét.</a:t>
            </a:r>
            <a:br/>
            <a:r>
              <a:t>• Bật/tắt công tắc 'Active' nếu món ăn tạm thời hết hàng mà không cần xoá hẳn.</a:t>
            </a:r>
          </a:p>
        </p:txBody>
      </p:sp>
      <p:pic>
        <p:nvPicPr>
          <p:cNvPr id="16" name="Picture 15" descr="verified_admin_speiseka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solidFill>
              <a:srgbClr val="F6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98224"/>
                </a:solidFill>
                <a:latin typeface="Lora"/>
              </a:defRPr>
            </a:pPr>
            <a:r>
              <a:t>HỆ THỐNG CMS ĐỘNG • VEGAN GARDEN BERLIN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A160F"/>
                </a:solidFill>
                <a:latin typeface="Lora"/>
              </a:defRPr>
            </a:pPr>
            <a:r>
              <a:t>BƯỚC 5: QUẢN TRỊ GOOGLE REVIEWS (ĐÁNH GIÁ 5 SAO)</a:t>
            </a:r>
          </a:p>
        </p:txBody>
      </p:sp>
      <p:pic>
        <p:nvPicPr>
          <p:cNvPr id="5" name="Picture 4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6576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25880"/>
            <a:ext cx="10728655" cy="22860"/>
          </a:xfrm>
          <a:prstGeom prst="rect">
            <a:avLst/>
          </a:prstGeom>
          <a:solidFill>
            <a:srgbClr val="C79A4A"/>
          </a:solidFill>
          <a:ln>
            <a:solidFill>
              <a:srgbClr val="C7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Thêm nhận xét mới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Vào menu '⭐ Reviews' -&gt; Bấm 'Add New Review'.</a:t>
            </a:r>
            <a:br/>
            <a:r>
              <a:t>Nhập Tên khách hàng vào ô Title (ví dụ: Lisa Weber, Marco Rossi...).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1012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Nội dung nhận xét &amp; Số sao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Soạn thảo lời nhận xét khen ngợi của khách vào khung soạn thảo chính.</a:t>
            </a:r>
            <a:br/>
            <a:r>
              <a:t>• Chọn số sao đánh giá (từ 1 đến 5 sao) tại ô 'Rating Stars'.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6460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Tùy chọn màu Avatar &amp; Thứ tự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Chọn Màu nền đại diện (Avatar Color): Hệ thống tự động lấy chữ cái đầu tên khách làm avatar theo màu bạn chọn.</a:t>
            </a:r>
            <a:br/>
            <a:r>
              <a:t>• Điền thứ tự hiển thị và bấm 'Publish'.</a:t>
            </a:r>
          </a:p>
        </p:txBody>
      </p:sp>
      <p:pic>
        <p:nvPicPr>
          <p:cNvPr id="16" name="Picture 15" descr="verified_admin_revie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solidFill>
              <a:srgbClr val="F6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98224"/>
                </a:solidFill>
                <a:latin typeface="Lora"/>
              </a:defRPr>
            </a:pPr>
            <a:r>
              <a:t>HỆ THỐNG CMS ĐỘNG • VEGAN GARDEN BERLIN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A160F"/>
                </a:solidFill>
                <a:latin typeface="Lora"/>
              </a:defRPr>
            </a:pPr>
            <a:r>
              <a:t>BƯỚC 6: QUẢN TRỊ THƯ VIỆN HÌNH ẢNH (GALLERY ALBUM)</a:t>
            </a:r>
          </a:p>
        </p:txBody>
      </p:sp>
      <p:pic>
        <p:nvPicPr>
          <p:cNvPr id="5" name="Picture 4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6576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25880"/>
            <a:ext cx="10728655" cy="22860"/>
          </a:xfrm>
          <a:prstGeom prst="rect">
            <a:avLst/>
          </a:prstGeom>
          <a:solidFill>
            <a:srgbClr val="C79A4A"/>
          </a:solidFill>
          <a:ln>
            <a:solidFill>
              <a:srgbClr val="C7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Thêm ảnh không gian &amp; Món ăn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Vào menu '📸 Gallery' -&gt; Bấm 'Add New Photo'.</a:t>
            </a:r>
            <a:br/>
            <a:r>
              <a:t>Nhập tiêu đề mô tả ngắn cho bức ảnh (ví dụ: Góc vườn Sommergarten, Không gian tiệc...).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1012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Chọn ảnh chất lượng cao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Tải ảnh lên ở mục 'Featured Image'.</a:t>
            </a:r>
            <a:br/>
            <a:r>
              <a:t>Khuyên dùng ảnh chụp ngang hoặc vuông, độ phân giải sắc nét từ 800px trở lên.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6460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Sắp xếp &amp; Xoá ảnh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Nhập số thứ tự 'Order' để ảnh đẹp nhất xuất hiện đầu tiên trên slider.</a:t>
            </a:r>
            <a:br/>
            <a:r>
              <a:t>• Nếu muốn xoá ảnh cũ, chỉ cần di chuột vào ảnh và bấm 'Trash'.</a:t>
            </a:r>
          </a:p>
        </p:txBody>
      </p:sp>
      <p:pic>
        <p:nvPicPr>
          <p:cNvPr id="16" name="Picture 15" descr="verified_gallery_sli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17070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solidFill>
              <a:srgbClr val="F6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98224"/>
                </a:solidFill>
                <a:latin typeface="Lora"/>
              </a:defRPr>
            </a:pPr>
            <a:r>
              <a:t>HỆ THỐNG CMS ĐỘNG • VEGAN GARDEN BERLIN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A160F"/>
                </a:solidFill>
                <a:latin typeface="Lora"/>
              </a:defRPr>
            </a:pPr>
            <a:r>
              <a:t>BƯỚC 7: CÀI ĐẶT THÔNG TIN LIÊN HỆ &amp; TẢI FILE MENU PDF</a:t>
            </a:r>
          </a:p>
        </p:txBody>
      </p:sp>
      <p:pic>
        <p:nvPicPr>
          <p:cNvPr id="5" name="Picture 4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6576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25880"/>
            <a:ext cx="10728655" cy="22860"/>
          </a:xfrm>
          <a:prstGeom prst="rect">
            <a:avLst/>
          </a:prstGeom>
          <a:solidFill>
            <a:srgbClr val="C79A4A"/>
          </a:solidFill>
          <a:ln>
            <a:solidFill>
              <a:srgbClr val="C7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Cập nhật 2 Số Hotline &amp; Địa chỉ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Vào menu '⚙️ Restaurant Info' -&gt; Mục 1: Thông Tin Liên Hệ:</a:t>
            </a:r>
            <a:br/>
            <a:r>
              <a:t>• Số điện thoại bàn chính: 030 2123 7260</a:t>
            </a:r>
            <a:br/>
            <a:r>
              <a:t>• Số di động: 0162 464 9999</a:t>
            </a:r>
            <a:br/>
            <a:r>
              <a:t>• Email &amp; Địa chỉ tại Frankfurter Allee 21.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1012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Giờ mở cửa, Ngày nghỉ &amp; Giờ nhận bếp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Giờ mở cửa: Dienstag – Sonntag 12:00 – 22:00 Uhr.</a:t>
            </a:r>
            <a:br/>
            <a:r>
              <a:t>• Ngày nghỉ: Montag Ruhetag.</a:t>
            </a:r>
            <a:br/>
            <a:r>
              <a:t>• Giờ nhận bếp cuối: Küche bis 21:30 Uhr.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6460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Tải lên file PDF Speisekarte mới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Mục 'File Menu PDF' -&gt; Bấm nút 'Tải lên file PDF mới'.</a:t>
            </a:r>
            <a:br/>
            <a:r>
              <a:t>Toàn bộ nút 'Gesamte Speisekarte ansehen' trên website sẽ tự động mở file mới tải lên!</a:t>
            </a:r>
          </a:p>
        </p:txBody>
      </p:sp>
      <p:pic>
        <p:nvPicPr>
          <p:cNvPr id="16" name="Picture 15" descr="verified_admin_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1437106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solidFill>
              <a:srgbClr val="F6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98224"/>
                </a:solidFill>
                <a:latin typeface="Lora"/>
              </a:defRPr>
            </a:pPr>
            <a:r>
              <a:t>HỆ THỐNG CMS ĐỘNG • VEGAN GARDEN BERLIN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A160F"/>
                </a:solidFill>
                <a:latin typeface="Lora"/>
              </a:defRPr>
            </a:pPr>
            <a:r>
              <a:t>BƯỚC 8: CHỈNH SỬA KHỐI GIỚI THIỆU (WELCOME) &amp; VIDEO</a:t>
            </a:r>
          </a:p>
        </p:txBody>
      </p:sp>
      <p:pic>
        <p:nvPicPr>
          <p:cNvPr id="5" name="Picture 4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6576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25880"/>
            <a:ext cx="10728655" cy="22860"/>
          </a:xfrm>
          <a:prstGeom prst="rect">
            <a:avLst/>
          </a:prstGeom>
          <a:solidFill>
            <a:srgbClr val="C79A4A"/>
          </a:solidFill>
          <a:ln>
            <a:solidFill>
              <a:srgbClr val="C7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Đổi Tiêu đề &amp; Đoạn văn triết lý quán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Tại menu '⚙️ Restaurant Info' -&gt; Mục 2: Trang Chủ - Giới Thiệu:</a:t>
            </a:r>
            <a:br/>
            <a:r>
              <a:t>• Tiêu đề chính: VEGAN GARDEN BERLIN</a:t>
            </a:r>
            <a:br/>
            <a:r>
              <a:t>• Soạn lại nội dung đoạn văn mô tả ẩm thực thuần chay theo ý muốn.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1012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Cập nhật Video YouTube &amp; Ảnh đại diện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Dán link video YouTube mới vào ô 'Link Video YouTube'.</a:t>
            </a:r>
            <a:br/>
            <a:r>
              <a:t>• Bấm 'Chọn ảnh từ thư viện' để đổi ảnh bìa video hiển thị trên trang chủ.</a:t>
            </a:r>
            <a:br/>
            <a:r>
              <a:t>• Sửa dòng chú thích bên dưới video.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6460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3 Khối Không Gian &amp; Sự Kiện (Cards)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Mục 4: Tự do đổi hình ảnh, tiêu đề và phụ đề cho 3 khối:</a:t>
            </a:r>
            <a:br/>
            <a:r>
              <a:t>1. Sommergarten (Vườn mùa hè)</a:t>
            </a:r>
            <a:br/>
            <a:r>
              <a:t>2. Restaurant (Không gian nhà hàng ấm cúng)</a:t>
            </a:r>
            <a:br/>
            <a:r>
              <a:t>3. Events &amp; Feiern (Tiệc sinh nhật, họp mặt riêng).</a:t>
            </a:r>
          </a:p>
        </p:txBody>
      </p:sp>
      <p:pic>
        <p:nvPicPr>
          <p:cNvPr id="16" name="Picture 15" descr="verified_theme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3977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solidFill>
              <a:srgbClr val="F6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98224"/>
                </a:solidFill>
                <a:latin typeface="Lora"/>
              </a:defRPr>
            </a:pPr>
            <a:r>
              <a:t>HỆ THỐNG CMS ĐỘNG • VEGAN GARDEN BERLIN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A160F"/>
                </a:solidFill>
                <a:latin typeface="Lora"/>
              </a:defRPr>
            </a:pPr>
            <a:r>
              <a:t>BƯỚC 9: QUẢN LÝ DANH SÁCH ĐƠN ĐẶT BÀN TRỰC TUYẾN</a:t>
            </a:r>
          </a:p>
        </p:txBody>
      </p:sp>
      <p:pic>
        <p:nvPicPr>
          <p:cNvPr id="5" name="Picture 4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6576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25880"/>
            <a:ext cx="10728655" cy="22860"/>
          </a:xfrm>
          <a:prstGeom prst="rect">
            <a:avLst/>
          </a:prstGeom>
          <a:solidFill>
            <a:srgbClr val="C79A4A"/>
          </a:solidFill>
          <a:ln>
            <a:solidFill>
              <a:srgbClr val="C7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Theo dõi đơn đặt bàn mới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Vào menu '📅 Reservierungen'.</a:t>
            </a:r>
            <a:br/>
            <a:r>
              <a:t>Mỗi khi khách gửi đơn qua website, hệ thống tự động lưu trữ đơn và hiển thị số lượng đơn mới màu xanh.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1012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Xem thông tin chi tiết từng khách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Nhấp vào từng đơn để xem:</a:t>
            </a:r>
            <a:br/>
            <a:r>
              <a:t>• Họ tên khách, Số điện thoại liên hệ, Email.</a:t>
            </a:r>
            <a:br/>
            <a:r>
              <a:t>• Ngày &amp; Giờ đến ăn, Số lượng khách (Personen).</a:t>
            </a:r>
            <a:br/>
            <a:r>
              <a:t>• Ghi chú bàn ngoài trời/trong nhà, tiệc sinh nhật...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6460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Trạng thái &amp; Xuất file Excel (CSV)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Cập nhật trạng thái: Eingegangen -&gt; Bestätigt -&gt; Abgeschlossen.</a:t>
            </a:r>
            <a:br/>
            <a:r>
              <a:t>• Bấm nút 'Xuất dữ liệu Đặt bàn (Excel/CSV)' trên đầu trang để tải về toàn bộ danh sách khách mở trên Excel không lỗi font.</a:t>
            </a:r>
          </a:p>
        </p:txBody>
      </p:sp>
      <p:pic>
        <p:nvPicPr>
          <p:cNvPr id="16" name="Picture 15" descr="verified_export_reserv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33147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solidFill>
              <a:srgbClr val="F6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98224"/>
                </a:solidFill>
                <a:latin typeface="Lora"/>
              </a:defRPr>
            </a:pPr>
            <a:r>
              <a:t>HỆ THỐNG CMS ĐỘNG • VEGAN GARDEN BERLIN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A160F"/>
                </a:solidFill>
                <a:latin typeface="Lora"/>
              </a:defRPr>
            </a:pPr>
            <a:r>
              <a:t>BƯỚC 10: VIẾT BÀI CẨM NANG ẨM THỰC &amp; REZEPTE (JOURNAL)</a:t>
            </a:r>
          </a:p>
        </p:txBody>
      </p:sp>
      <p:pic>
        <p:nvPicPr>
          <p:cNvPr id="5" name="Picture 4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6576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25880"/>
            <a:ext cx="10728655" cy="22860"/>
          </a:xfrm>
          <a:prstGeom prst="rect">
            <a:avLst/>
          </a:prstGeom>
          <a:solidFill>
            <a:srgbClr val="C79A4A"/>
          </a:solidFill>
          <a:ln>
            <a:solidFill>
              <a:srgbClr val="C7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182880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5564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Tạo bài viết mới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Vào menu '✍️ Posts' -&gt; Bấm 'Add New Post'.</a:t>
            </a:r>
            <a:br/>
            <a:r>
              <a:t>Nhập tiêu đề bài viết vào ô Title và soạn thảo bài chia sẻ về công thức món chay, văn hoá ẩm thực.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14400" y="338328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1012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Gắn ảnh đại diện &amp; Phân chuyên mục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Cột bên phải mục 'Categories': Tích chọn đúng 1 trong 3 nhóm:</a:t>
            </a:r>
            <a:br/>
            <a:r>
              <a:t>  - Kultur &amp; Tipps (Văn hoá &amp; Mẹo)</a:t>
            </a:r>
            <a:br/>
            <a:r>
              <a:t>  - Rezepte &amp; Kulinarik (Công thức nấu)</a:t>
            </a:r>
            <a:br/>
            <a:r>
              <a:t>  - Speisekarte &amp; Gerichte (Món ăn quán)</a:t>
            </a:r>
            <a:br/>
            <a:r>
              <a:t>• Đặt ảnh đại diện bài viết tỷ lệ 16:10.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937760"/>
            <a:ext cx="411480" cy="411480"/>
          </a:xfrm>
          <a:prstGeom prst="ellipse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Lora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864608"/>
            <a:ext cx="4297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Xuất bản lên trang Journal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Bấm 'Publish' (Đăng bài). Bài viết sẽ tự động xuất hiện trên trang https://vegan-garden.berlin/ratgeber/ và hiển thị bộ lọc chuyên mục tức thì!</a:t>
            </a:r>
          </a:p>
        </p:txBody>
      </p:sp>
      <p:pic>
        <p:nvPicPr>
          <p:cNvPr id="16" name="Picture 15" descr="verified_desktop_journa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45920"/>
            <a:ext cx="5303520" cy="20377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7"/>
          </a:solidFill>
          <a:ln>
            <a:solidFill>
              <a:srgbClr val="F6F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98224"/>
                </a:solidFill>
                <a:latin typeface="Lora"/>
              </a:defRPr>
            </a:pPr>
            <a:r>
              <a:t>HỆ THỐNG CMS ĐỘNG • VEGAN GARDEN BERLIN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2A160F"/>
                </a:solidFill>
                <a:latin typeface="Lora"/>
              </a:defRPr>
            </a:pPr>
            <a:r>
              <a:t>QUY CHUẨN KÍCH THƯỚC ẢNH &amp; KINH NGHIỆM VẬN HÀNH</a:t>
            </a:r>
          </a:p>
        </p:txBody>
      </p:sp>
      <p:pic>
        <p:nvPicPr>
          <p:cNvPr id="5" name="Picture 4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8752" y="365760"/>
            <a:ext cx="868680" cy="868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" y="1325880"/>
            <a:ext cx="10728655" cy="22860"/>
          </a:xfrm>
          <a:prstGeom prst="rect">
            <a:avLst/>
          </a:prstGeom>
          <a:solidFill>
            <a:srgbClr val="C79A4A"/>
          </a:solidFill>
          <a:ln>
            <a:solidFill>
              <a:srgbClr val="C79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KÍCH THƯỚC BANNER CHUẨN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Banner Desktop: 1920 × 600 px (tỷ lệ 3.2:1).</a:t>
            </a:r>
            <a:br/>
            <a:r>
              <a:t>• Banner Mobile: 1200 × 800 px (tỷ lệ 3:2).</a:t>
            </a:r>
            <a:br/>
            <a:r>
              <a:t>Đúng kích thước giúp banner không bị cắt chữ hay méo hình trên các thiết bị.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TỐI ƯU DUNG LƯỢNG (&lt; 300 KB)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Luôn nén ảnh trước khi tải lên (sử dụng trang web miễn phí như tinypng.com).</a:t>
            </a:r>
            <a:br/>
            <a:r>
              <a:t>Định dạng khuyên dùng: JPG hoặc WebP để website load cực nhanh cho khách.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MÓN ĂN &amp; THƯ VIỆN GALLERY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• Món ăn Speisekarte: 800 × 800 px hoặc 1000 × 1000 px (ảnh vuông).</a:t>
            </a:r>
            <a:br/>
            <a:r>
              <a:t>• Thư viện ảnh Gallery: 1200 × 900 px (tỷ lệ 4:3).</a:t>
            </a:r>
            <a:br/>
            <a:r>
              <a:t>Chụp trong điều kiện ánh sáng ấm áp, tự nhiên.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AE2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411480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2A160F"/>
                </a:solidFill>
                <a:latin typeface="Lora"/>
              </a:defRPr>
            </a:pPr>
            <a:r>
              <a:t>LƯU Ý KHI KIỂM TRA THAY ĐỔI</a:t>
            </a:r>
          </a:p>
          <a:p>
            <a:pPr>
              <a:defRPr sz="1200">
                <a:solidFill>
                  <a:srgbClr val="5A524A"/>
                </a:solidFill>
                <a:latin typeface="Lora"/>
              </a:defRPr>
            </a:pPr>
            <a:r>
              <a:t>Sau khi bấm Cập nhật trong CMS, nếu chưa thấy trang web đổi hình mới:</a:t>
            </a:r>
            <a:br/>
            <a:r>
              <a:t>• Mở tab ẩn danh (Incognito window) để xem.</a:t>
            </a:r>
            <a:br/>
            <a:r>
              <a:t>• Hoặc nhấn phím tắt Ctrl + F5 để xoá cache trình duyệt.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160F"/>
          </a:solidFill>
          <a:ln>
            <a:solidFill>
              <a:srgbClr val="2A16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9050"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rounded_h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73152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46304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A98224"/>
                </a:solidFill>
                <a:latin typeface="Lora"/>
              </a:defRPr>
            </a:pPr>
            <a:r>
              <a:t>CẢM ƠN BẠN ĐÃ THEO DÕI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Lora"/>
              </a:defRPr>
            </a:pPr>
            <a:r>
              <a:t>CHÚC VEGAN GARDEN BERLIN</a:t>
            </a:r>
            <a:br/>
            <a:r>
              <a:t>LUÔN ĐÔNG KHÁCH &amp; VẬN HÀNH THÀNH CÔNG!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0990" y="3840480"/>
            <a:ext cx="1828800" cy="36576"/>
          </a:xfrm>
          <a:prstGeom prst="rect">
            <a:avLst/>
          </a:prstGeom>
          <a:solidFill>
            <a:srgbClr val="A98224"/>
          </a:solidFill>
          <a:ln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52190" y="4206240"/>
            <a:ext cx="5486400" cy="1463040"/>
          </a:xfrm>
          <a:prstGeom prst="roundRect">
            <a:avLst/>
          </a:prstGeom>
          <a:solidFill>
            <a:srgbClr val="38221A"/>
          </a:solidFill>
          <a:ln w="12700">
            <a:solidFill>
              <a:srgbClr val="A98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4343400"/>
            <a:ext cx="52120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A98224"/>
                </a:solidFill>
                <a:latin typeface="Lora"/>
              </a:defRPr>
            </a:pPr>
            <a:r>
              <a:t>HỖ TRỢ KỸ THUẬT &amp; TỐI ƯU WEBSITE</a:t>
            </a:r>
          </a:p>
          <a:p>
            <a:pPr algn="ctr">
              <a:defRPr sz="1100">
                <a:solidFill>
                  <a:srgbClr val="EAE2D5"/>
                </a:solidFill>
                <a:latin typeface="Lora"/>
              </a:defRPr>
            </a:pPr>
            <a:r>
              <a:t>Biên soạn &amp; Thiết kế kỹ thuật: Giau Tran</a:t>
            </a:r>
            <a:br/>
            <a:r>
              <a:t>Website cá nhân: https://giautran.me</a:t>
            </a:r>
            <a:br/>
            <a:r>
              <a:t>Website nhà hàng: https://vegan-garden.berlin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